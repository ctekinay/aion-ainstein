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75" r:id="rId2"/>
    <p:sldId id="27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5638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Tijdelijke aanduiding voor afbeelding 4">
            <a:extLst>
              <a:ext uri="{FF2B5EF4-FFF2-40B4-BE49-F238E27FC236}">
                <a16:creationId xmlns:a16="http://schemas.microsoft.com/office/drawing/2014/main" id="{F83EDBA1-30DD-6856-A8D0-D61F921E31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96" b="9196"/>
          <a:stretch/>
        </p:blipFill>
        <p:spPr>
          <a:xfrm>
            <a:off x="0" y="-404601"/>
            <a:ext cx="9144000" cy="4885162"/>
          </a:xfrm>
          <a:custGeom>
            <a:avLst/>
            <a:gdLst>
              <a:gd name="connsiteX0" fmla="*/ 11032338 w 12195175"/>
              <a:gd name="connsiteY0" fmla="*/ 0 h 6627869"/>
              <a:gd name="connsiteX1" fmla="*/ 11048924 w 12195175"/>
              <a:gd name="connsiteY1" fmla="*/ 674 h 6627869"/>
              <a:gd name="connsiteX2" fmla="*/ 11219719 w 12195175"/>
              <a:gd name="connsiteY2" fmla="*/ 674 h 6627869"/>
              <a:gd name="connsiteX3" fmla="*/ 11219743 w 12195175"/>
              <a:gd name="connsiteY3" fmla="*/ 673 h 6627869"/>
              <a:gd name="connsiteX4" fmla="*/ 11219748 w 12195175"/>
              <a:gd name="connsiteY4" fmla="*/ 674 h 6627869"/>
              <a:gd name="connsiteX5" fmla="*/ 11548667 w 12195175"/>
              <a:gd name="connsiteY5" fmla="*/ 674 h 6627869"/>
              <a:gd name="connsiteX6" fmla="*/ 11655812 w 12195175"/>
              <a:gd name="connsiteY6" fmla="*/ 71695 h 6627869"/>
              <a:gd name="connsiteX7" fmla="*/ 11664677 w 12195175"/>
              <a:gd name="connsiteY7" fmla="*/ 115606 h 6627869"/>
              <a:gd name="connsiteX8" fmla="*/ 11666207 w 12195175"/>
              <a:gd name="connsiteY8" fmla="*/ 116284 h 6627869"/>
              <a:gd name="connsiteX9" fmla="*/ 11666207 w 12195175"/>
              <a:gd name="connsiteY9" fmla="*/ 381399 h 6627869"/>
              <a:gd name="connsiteX10" fmla="*/ 11737228 w 12195175"/>
              <a:gd name="connsiteY10" fmla="*/ 488544 h 6627869"/>
              <a:gd name="connsiteX11" fmla="*/ 11782485 w 12195175"/>
              <a:gd name="connsiteY11" fmla="*/ 497681 h 6627869"/>
              <a:gd name="connsiteX12" fmla="*/ 12195175 w 12195175"/>
              <a:gd name="connsiteY12" fmla="*/ 498142 h 6627869"/>
              <a:gd name="connsiteX13" fmla="*/ 12195175 w 12195175"/>
              <a:gd name="connsiteY13" fmla="*/ 5053103 h 6627869"/>
              <a:gd name="connsiteX14" fmla="*/ 12195174 w 12195175"/>
              <a:gd name="connsiteY14" fmla="*/ 5053103 h 6627869"/>
              <a:gd name="connsiteX15" fmla="*/ 12195174 w 12195175"/>
              <a:gd name="connsiteY15" fmla="*/ 5376036 h 6627869"/>
              <a:gd name="connsiteX16" fmla="*/ 12195174 w 12195175"/>
              <a:gd name="connsiteY16" fmla="*/ 5381503 h 6627869"/>
              <a:gd name="connsiteX17" fmla="*/ 12194898 w 12195175"/>
              <a:gd name="connsiteY17" fmla="*/ 5381503 h 6627869"/>
              <a:gd name="connsiteX18" fmla="*/ 12188711 w 12195175"/>
              <a:gd name="connsiteY18" fmla="*/ 5504029 h 6627869"/>
              <a:gd name="connsiteX19" fmla="*/ 10943342 w 12195175"/>
              <a:gd name="connsiteY19" fmla="*/ 6627868 h 6627869"/>
              <a:gd name="connsiteX20" fmla="*/ 10238267 w 12195175"/>
              <a:gd name="connsiteY20" fmla="*/ 6627868 h 6627869"/>
              <a:gd name="connsiteX21" fmla="*/ 10238249 w 12195175"/>
              <a:gd name="connsiteY21" fmla="*/ 6627869 h 6627869"/>
              <a:gd name="connsiteX22" fmla="*/ 3172 w 12195175"/>
              <a:gd name="connsiteY22" fmla="*/ 6627869 h 6627869"/>
              <a:gd name="connsiteX23" fmla="*/ 3172 w 12195175"/>
              <a:gd name="connsiteY23" fmla="*/ 5053103 h 6627869"/>
              <a:gd name="connsiteX24" fmla="*/ 0 w 12195175"/>
              <a:gd name="connsiteY24" fmla="*/ 5053103 h 6627869"/>
              <a:gd name="connsiteX25" fmla="*/ 0 w 12195175"/>
              <a:gd name="connsiteY25" fmla="*/ 498355 h 6627869"/>
              <a:gd name="connsiteX26" fmla="*/ 3172 w 12195175"/>
              <a:gd name="connsiteY26" fmla="*/ 498355 h 6627869"/>
              <a:gd name="connsiteX27" fmla="*/ 3172 w 12195175"/>
              <a:gd name="connsiteY27" fmla="*/ 498354 h 6627869"/>
              <a:gd name="connsiteX28" fmla="*/ 10469596 w 12195175"/>
              <a:gd name="connsiteY28" fmla="*/ 498354 h 6627869"/>
              <a:gd name="connsiteX29" fmla="*/ 10514853 w 12195175"/>
              <a:gd name="connsiteY29" fmla="*/ 489217 h 6627869"/>
              <a:gd name="connsiteX30" fmla="*/ 10566015 w 12195175"/>
              <a:gd name="connsiteY30" fmla="*/ 447087 h 6627869"/>
              <a:gd name="connsiteX31" fmla="*/ 10579238 w 12195175"/>
              <a:gd name="connsiteY31" fmla="*/ 416383 h 6627869"/>
              <a:gd name="connsiteX32" fmla="*/ 10584950 w 12195175"/>
              <a:gd name="connsiteY32" fmla="*/ 385859 h 6627869"/>
              <a:gd name="connsiteX33" fmla="*/ 10584950 w 12195175"/>
              <a:gd name="connsiteY33" fmla="*/ 396360 h 6627869"/>
              <a:gd name="connsiteX34" fmla="*/ 10585318 w 12195175"/>
              <a:gd name="connsiteY34" fmla="*/ 383893 h 6627869"/>
              <a:gd name="connsiteX35" fmla="*/ 10584950 w 12195175"/>
              <a:gd name="connsiteY35" fmla="*/ 385859 h 6627869"/>
              <a:gd name="connsiteX36" fmla="*/ 10584950 w 12195175"/>
              <a:gd name="connsiteY36" fmla="*/ 116957 h 6627869"/>
              <a:gd name="connsiteX37" fmla="*/ 10701233 w 12195175"/>
              <a:gd name="connsiteY37" fmla="*/ 674 h 6627869"/>
              <a:gd name="connsiteX38" fmla="*/ 11029000 w 12195175"/>
              <a:gd name="connsiteY38" fmla="*/ 674 h 662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2195175" h="6627869">
                <a:moveTo>
                  <a:pt x="11032338" y="0"/>
                </a:moveTo>
                <a:lnTo>
                  <a:pt x="11048924" y="674"/>
                </a:lnTo>
                <a:lnTo>
                  <a:pt x="11219719" y="674"/>
                </a:lnTo>
                <a:cubicBezTo>
                  <a:pt x="11219727" y="674"/>
                  <a:pt x="11219735" y="673"/>
                  <a:pt x="11219743" y="673"/>
                </a:cubicBezTo>
                <a:cubicBezTo>
                  <a:pt x="11219745" y="673"/>
                  <a:pt x="11219746" y="674"/>
                  <a:pt x="11219748" y="674"/>
                </a:cubicBezTo>
                <a:lnTo>
                  <a:pt x="11548667" y="674"/>
                </a:lnTo>
                <a:cubicBezTo>
                  <a:pt x="11596833" y="674"/>
                  <a:pt x="11638159" y="29959"/>
                  <a:pt x="11655812" y="71695"/>
                </a:cubicBezTo>
                <a:lnTo>
                  <a:pt x="11664677" y="115606"/>
                </a:lnTo>
                <a:lnTo>
                  <a:pt x="11666207" y="116284"/>
                </a:lnTo>
                <a:lnTo>
                  <a:pt x="11666207" y="381399"/>
                </a:lnTo>
                <a:cubicBezTo>
                  <a:pt x="11666207" y="429565"/>
                  <a:pt x="11695492" y="470891"/>
                  <a:pt x="11737228" y="488544"/>
                </a:cubicBezTo>
                <a:lnTo>
                  <a:pt x="11782485" y="497681"/>
                </a:lnTo>
                <a:lnTo>
                  <a:pt x="12195175" y="498142"/>
                </a:lnTo>
                <a:lnTo>
                  <a:pt x="12195175" y="5053103"/>
                </a:lnTo>
                <a:lnTo>
                  <a:pt x="12195174" y="5053103"/>
                </a:lnTo>
                <a:lnTo>
                  <a:pt x="12195174" y="5376036"/>
                </a:lnTo>
                <a:lnTo>
                  <a:pt x="12195174" y="5381503"/>
                </a:lnTo>
                <a:lnTo>
                  <a:pt x="12194898" y="5381503"/>
                </a:lnTo>
                <a:lnTo>
                  <a:pt x="12188711" y="5504029"/>
                </a:lnTo>
                <a:cubicBezTo>
                  <a:pt x="12124605" y="6135273"/>
                  <a:pt x="11591499" y="6627868"/>
                  <a:pt x="10943342" y="6627868"/>
                </a:cubicBezTo>
                <a:lnTo>
                  <a:pt x="10238267" y="6627868"/>
                </a:lnTo>
                <a:lnTo>
                  <a:pt x="10238249" y="6627869"/>
                </a:lnTo>
                <a:lnTo>
                  <a:pt x="3172" y="6627869"/>
                </a:lnTo>
                <a:lnTo>
                  <a:pt x="3172" y="5053103"/>
                </a:lnTo>
                <a:lnTo>
                  <a:pt x="0" y="5053103"/>
                </a:lnTo>
                <a:lnTo>
                  <a:pt x="0" y="498355"/>
                </a:lnTo>
                <a:lnTo>
                  <a:pt x="3172" y="498355"/>
                </a:lnTo>
                <a:lnTo>
                  <a:pt x="3172" y="498354"/>
                </a:lnTo>
                <a:lnTo>
                  <a:pt x="10469596" y="498354"/>
                </a:lnTo>
                <a:lnTo>
                  <a:pt x="10514853" y="489217"/>
                </a:lnTo>
                <a:cubicBezTo>
                  <a:pt x="10535721" y="480390"/>
                  <a:pt x="10553476" y="465646"/>
                  <a:pt x="10566015" y="447087"/>
                </a:cubicBezTo>
                <a:cubicBezTo>
                  <a:pt x="10573995" y="437745"/>
                  <a:pt x="10577212" y="427213"/>
                  <a:pt x="10579238" y="416383"/>
                </a:cubicBezTo>
                <a:lnTo>
                  <a:pt x="10584950" y="385859"/>
                </a:lnTo>
                <a:lnTo>
                  <a:pt x="10584950" y="396360"/>
                </a:lnTo>
                <a:cubicBezTo>
                  <a:pt x="10585073" y="396967"/>
                  <a:pt x="10585195" y="383286"/>
                  <a:pt x="10585318" y="383893"/>
                </a:cubicBezTo>
                <a:cubicBezTo>
                  <a:pt x="10585195" y="384548"/>
                  <a:pt x="10585073" y="385204"/>
                  <a:pt x="10584950" y="385859"/>
                </a:cubicBezTo>
                <a:lnTo>
                  <a:pt x="10584950" y="116957"/>
                </a:lnTo>
                <a:cubicBezTo>
                  <a:pt x="10584950" y="52736"/>
                  <a:pt x="10637012" y="674"/>
                  <a:pt x="10701233" y="674"/>
                </a:cubicBezTo>
                <a:lnTo>
                  <a:pt x="11029000" y="674"/>
                </a:lnTo>
                <a:close/>
              </a:path>
            </a:pathLst>
          </a:custGeom>
        </p:spPr>
      </p:pic>
      <p:sp>
        <p:nvSpPr>
          <p:cNvPr id="2" name="Shape 0"/>
          <p:cNvSpPr/>
          <p:nvPr/>
        </p:nvSpPr>
        <p:spPr>
          <a:xfrm>
            <a:off x="365760" y="548640"/>
            <a:ext cx="4572000" cy="2926080"/>
          </a:xfrm>
          <a:prstGeom prst="rect">
            <a:avLst/>
          </a:prstGeom>
          <a:solidFill>
            <a:srgbClr val="FFFFFF">
              <a:alpha val="81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AInstein: ArchiMate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Generation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Findings, Challenges, and the Road to YAML</a:t>
            </a: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137160"/>
            <a:ext cx="1554480" cy="6583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4526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Cagri Tekinay l  ESA  l   AI-DSO / AIon  l   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">
            <a:extLst>
              <a:ext uri="{FF2B5EF4-FFF2-40B4-BE49-F238E27FC236}">
                <a16:creationId xmlns:a16="http://schemas.microsoft.com/office/drawing/2014/main" id="{C66723D3-8DFA-CEB1-2DDA-A389D387C869}"/>
              </a:ext>
            </a:extLst>
          </p:cNvPr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Tijdelijke aanduiding voor afbeelding 4">
            <a:extLst>
              <a:ext uri="{FF2B5EF4-FFF2-40B4-BE49-F238E27FC236}">
                <a16:creationId xmlns:a16="http://schemas.microsoft.com/office/drawing/2014/main" id="{6CA5E139-5F10-1F0E-46D0-27C1A3C28A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96" b="9196"/>
          <a:stretch/>
        </p:blipFill>
        <p:spPr>
          <a:xfrm>
            <a:off x="0" y="-388417"/>
            <a:ext cx="9144000" cy="4823258"/>
          </a:xfrm>
          <a:custGeom>
            <a:avLst/>
            <a:gdLst>
              <a:gd name="connsiteX0" fmla="*/ 11032338 w 12195175"/>
              <a:gd name="connsiteY0" fmla="*/ 0 h 6627869"/>
              <a:gd name="connsiteX1" fmla="*/ 11048924 w 12195175"/>
              <a:gd name="connsiteY1" fmla="*/ 674 h 6627869"/>
              <a:gd name="connsiteX2" fmla="*/ 11219719 w 12195175"/>
              <a:gd name="connsiteY2" fmla="*/ 674 h 6627869"/>
              <a:gd name="connsiteX3" fmla="*/ 11219743 w 12195175"/>
              <a:gd name="connsiteY3" fmla="*/ 673 h 6627869"/>
              <a:gd name="connsiteX4" fmla="*/ 11219748 w 12195175"/>
              <a:gd name="connsiteY4" fmla="*/ 674 h 6627869"/>
              <a:gd name="connsiteX5" fmla="*/ 11548667 w 12195175"/>
              <a:gd name="connsiteY5" fmla="*/ 674 h 6627869"/>
              <a:gd name="connsiteX6" fmla="*/ 11655812 w 12195175"/>
              <a:gd name="connsiteY6" fmla="*/ 71695 h 6627869"/>
              <a:gd name="connsiteX7" fmla="*/ 11664677 w 12195175"/>
              <a:gd name="connsiteY7" fmla="*/ 115606 h 6627869"/>
              <a:gd name="connsiteX8" fmla="*/ 11666207 w 12195175"/>
              <a:gd name="connsiteY8" fmla="*/ 116284 h 6627869"/>
              <a:gd name="connsiteX9" fmla="*/ 11666207 w 12195175"/>
              <a:gd name="connsiteY9" fmla="*/ 381399 h 6627869"/>
              <a:gd name="connsiteX10" fmla="*/ 11737228 w 12195175"/>
              <a:gd name="connsiteY10" fmla="*/ 488544 h 6627869"/>
              <a:gd name="connsiteX11" fmla="*/ 11782485 w 12195175"/>
              <a:gd name="connsiteY11" fmla="*/ 497681 h 6627869"/>
              <a:gd name="connsiteX12" fmla="*/ 12195175 w 12195175"/>
              <a:gd name="connsiteY12" fmla="*/ 498142 h 6627869"/>
              <a:gd name="connsiteX13" fmla="*/ 12195175 w 12195175"/>
              <a:gd name="connsiteY13" fmla="*/ 5053103 h 6627869"/>
              <a:gd name="connsiteX14" fmla="*/ 12195174 w 12195175"/>
              <a:gd name="connsiteY14" fmla="*/ 5053103 h 6627869"/>
              <a:gd name="connsiteX15" fmla="*/ 12195174 w 12195175"/>
              <a:gd name="connsiteY15" fmla="*/ 5376036 h 6627869"/>
              <a:gd name="connsiteX16" fmla="*/ 12195174 w 12195175"/>
              <a:gd name="connsiteY16" fmla="*/ 5381503 h 6627869"/>
              <a:gd name="connsiteX17" fmla="*/ 12194898 w 12195175"/>
              <a:gd name="connsiteY17" fmla="*/ 5381503 h 6627869"/>
              <a:gd name="connsiteX18" fmla="*/ 12188711 w 12195175"/>
              <a:gd name="connsiteY18" fmla="*/ 5504029 h 6627869"/>
              <a:gd name="connsiteX19" fmla="*/ 10943342 w 12195175"/>
              <a:gd name="connsiteY19" fmla="*/ 6627868 h 6627869"/>
              <a:gd name="connsiteX20" fmla="*/ 10238267 w 12195175"/>
              <a:gd name="connsiteY20" fmla="*/ 6627868 h 6627869"/>
              <a:gd name="connsiteX21" fmla="*/ 10238249 w 12195175"/>
              <a:gd name="connsiteY21" fmla="*/ 6627869 h 6627869"/>
              <a:gd name="connsiteX22" fmla="*/ 3172 w 12195175"/>
              <a:gd name="connsiteY22" fmla="*/ 6627869 h 6627869"/>
              <a:gd name="connsiteX23" fmla="*/ 3172 w 12195175"/>
              <a:gd name="connsiteY23" fmla="*/ 5053103 h 6627869"/>
              <a:gd name="connsiteX24" fmla="*/ 0 w 12195175"/>
              <a:gd name="connsiteY24" fmla="*/ 5053103 h 6627869"/>
              <a:gd name="connsiteX25" fmla="*/ 0 w 12195175"/>
              <a:gd name="connsiteY25" fmla="*/ 498355 h 6627869"/>
              <a:gd name="connsiteX26" fmla="*/ 3172 w 12195175"/>
              <a:gd name="connsiteY26" fmla="*/ 498355 h 6627869"/>
              <a:gd name="connsiteX27" fmla="*/ 3172 w 12195175"/>
              <a:gd name="connsiteY27" fmla="*/ 498354 h 6627869"/>
              <a:gd name="connsiteX28" fmla="*/ 10469596 w 12195175"/>
              <a:gd name="connsiteY28" fmla="*/ 498354 h 6627869"/>
              <a:gd name="connsiteX29" fmla="*/ 10514853 w 12195175"/>
              <a:gd name="connsiteY29" fmla="*/ 489217 h 6627869"/>
              <a:gd name="connsiteX30" fmla="*/ 10566015 w 12195175"/>
              <a:gd name="connsiteY30" fmla="*/ 447087 h 6627869"/>
              <a:gd name="connsiteX31" fmla="*/ 10579238 w 12195175"/>
              <a:gd name="connsiteY31" fmla="*/ 416383 h 6627869"/>
              <a:gd name="connsiteX32" fmla="*/ 10584950 w 12195175"/>
              <a:gd name="connsiteY32" fmla="*/ 385859 h 6627869"/>
              <a:gd name="connsiteX33" fmla="*/ 10584950 w 12195175"/>
              <a:gd name="connsiteY33" fmla="*/ 396360 h 6627869"/>
              <a:gd name="connsiteX34" fmla="*/ 10585318 w 12195175"/>
              <a:gd name="connsiteY34" fmla="*/ 383893 h 6627869"/>
              <a:gd name="connsiteX35" fmla="*/ 10584950 w 12195175"/>
              <a:gd name="connsiteY35" fmla="*/ 385859 h 6627869"/>
              <a:gd name="connsiteX36" fmla="*/ 10584950 w 12195175"/>
              <a:gd name="connsiteY36" fmla="*/ 116957 h 6627869"/>
              <a:gd name="connsiteX37" fmla="*/ 10701233 w 12195175"/>
              <a:gd name="connsiteY37" fmla="*/ 674 h 6627869"/>
              <a:gd name="connsiteX38" fmla="*/ 11029000 w 12195175"/>
              <a:gd name="connsiteY38" fmla="*/ 674 h 662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2195175" h="6627869">
                <a:moveTo>
                  <a:pt x="11032338" y="0"/>
                </a:moveTo>
                <a:lnTo>
                  <a:pt x="11048924" y="674"/>
                </a:lnTo>
                <a:lnTo>
                  <a:pt x="11219719" y="674"/>
                </a:lnTo>
                <a:cubicBezTo>
                  <a:pt x="11219727" y="674"/>
                  <a:pt x="11219735" y="673"/>
                  <a:pt x="11219743" y="673"/>
                </a:cubicBezTo>
                <a:cubicBezTo>
                  <a:pt x="11219745" y="673"/>
                  <a:pt x="11219746" y="674"/>
                  <a:pt x="11219748" y="674"/>
                </a:cubicBezTo>
                <a:lnTo>
                  <a:pt x="11548667" y="674"/>
                </a:lnTo>
                <a:cubicBezTo>
                  <a:pt x="11596833" y="674"/>
                  <a:pt x="11638159" y="29959"/>
                  <a:pt x="11655812" y="71695"/>
                </a:cubicBezTo>
                <a:lnTo>
                  <a:pt x="11664677" y="115606"/>
                </a:lnTo>
                <a:lnTo>
                  <a:pt x="11666207" y="116284"/>
                </a:lnTo>
                <a:lnTo>
                  <a:pt x="11666207" y="381399"/>
                </a:lnTo>
                <a:cubicBezTo>
                  <a:pt x="11666207" y="429565"/>
                  <a:pt x="11695492" y="470891"/>
                  <a:pt x="11737228" y="488544"/>
                </a:cubicBezTo>
                <a:lnTo>
                  <a:pt x="11782485" y="497681"/>
                </a:lnTo>
                <a:lnTo>
                  <a:pt x="12195175" y="498142"/>
                </a:lnTo>
                <a:lnTo>
                  <a:pt x="12195175" y="5053103"/>
                </a:lnTo>
                <a:lnTo>
                  <a:pt x="12195174" y="5053103"/>
                </a:lnTo>
                <a:lnTo>
                  <a:pt x="12195174" y="5376036"/>
                </a:lnTo>
                <a:lnTo>
                  <a:pt x="12195174" y="5381503"/>
                </a:lnTo>
                <a:lnTo>
                  <a:pt x="12194898" y="5381503"/>
                </a:lnTo>
                <a:lnTo>
                  <a:pt x="12188711" y="5504029"/>
                </a:lnTo>
                <a:cubicBezTo>
                  <a:pt x="12124605" y="6135273"/>
                  <a:pt x="11591499" y="6627868"/>
                  <a:pt x="10943342" y="6627868"/>
                </a:cubicBezTo>
                <a:lnTo>
                  <a:pt x="10238267" y="6627868"/>
                </a:lnTo>
                <a:lnTo>
                  <a:pt x="10238249" y="6627869"/>
                </a:lnTo>
                <a:lnTo>
                  <a:pt x="3172" y="6627869"/>
                </a:lnTo>
                <a:lnTo>
                  <a:pt x="3172" y="5053103"/>
                </a:lnTo>
                <a:lnTo>
                  <a:pt x="0" y="5053103"/>
                </a:lnTo>
                <a:lnTo>
                  <a:pt x="0" y="498355"/>
                </a:lnTo>
                <a:lnTo>
                  <a:pt x="3172" y="498355"/>
                </a:lnTo>
                <a:lnTo>
                  <a:pt x="3172" y="498354"/>
                </a:lnTo>
                <a:lnTo>
                  <a:pt x="10469596" y="498354"/>
                </a:lnTo>
                <a:lnTo>
                  <a:pt x="10514853" y="489217"/>
                </a:lnTo>
                <a:cubicBezTo>
                  <a:pt x="10535721" y="480390"/>
                  <a:pt x="10553476" y="465646"/>
                  <a:pt x="10566015" y="447087"/>
                </a:cubicBezTo>
                <a:cubicBezTo>
                  <a:pt x="10573995" y="437745"/>
                  <a:pt x="10577212" y="427213"/>
                  <a:pt x="10579238" y="416383"/>
                </a:cubicBezTo>
                <a:lnTo>
                  <a:pt x="10584950" y="385859"/>
                </a:lnTo>
                <a:lnTo>
                  <a:pt x="10584950" y="396360"/>
                </a:lnTo>
                <a:cubicBezTo>
                  <a:pt x="10585073" y="396967"/>
                  <a:pt x="10585195" y="383286"/>
                  <a:pt x="10585318" y="383893"/>
                </a:cubicBezTo>
                <a:cubicBezTo>
                  <a:pt x="10585195" y="384548"/>
                  <a:pt x="10585073" y="385204"/>
                  <a:pt x="10584950" y="385859"/>
                </a:cubicBezTo>
                <a:lnTo>
                  <a:pt x="10584950" y="116957"/>
                </a:lnTo>
                <a:cubicBezTo>
                  <a:pt x="10584950" y="52736"/>
                  <a:pt x="10637012" y="674"/>
                  <a:pt x="10701233" y="674"/>
                </a:cubicBezTo>
                <a:lnTo>
                  <a:pt x="11029000" y="674"/>
                </a:lnTo>
                <a:close/>
              </a:path>
            </a:pathLst>
          </a:cu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137160"/>
            <a:ext cx="1554480" cy="6583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65760"/>
            <a:ext cx="5029200" cy="2743200"/>
          </a:xfrm>
          <a:prstGeom prst="rect">
            <a:avLst/>
          </a:prstGeom>
          <a:solidFill>
            <a:srgbClr val="FFFFFF">
              <a:alpha val="8199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40080" y="54864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dirty="0">
              <a:solidFill>
                <a:srgbClr val="006131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>
              <a:buNone/>
            </a:pPr>
            <a:r>
              <a:rPr lang="en-US" sz="2800" dirty="0" err="1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AInstein</a:t>
            </a:r>
            <a:r>
              <a:rPr lang="en-US" sz="2800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generates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ArchiMate models from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architectural decisions &amp; review/improve existing models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generation pipeline: turning ADRs and source documents into validated ArchiMate Exchange XML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412480" y="4709160"/>
            <a:ext cx="4572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C8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Agenda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37160"/>
            <a:ext cx="1554480" cy="658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00584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sz="1300" b="1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AInstein does today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sz="1300" b="1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What’s coming next: the Read Pipeline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sz="13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Implementation choice: Skills vs MCP vs Custom Agent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sz="13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capability findings: why small models fail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sz="13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Validation and sanitization struggles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sz="13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Skill philosophy: no regex soup</a:t>
            </a:r>
            <a:endParaRPr lang="en-US" sz="1300" dirty="0"/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sz="13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Follow-up refinement: iterating without full XML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sz="13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YAML pivot: stop generating XML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sz="13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Format analysis: TOON vs YAML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sz="1300" b="1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final numbers: 90% token reduction!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sz="13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What’s next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412480" y="4709160"/>
            <a:ext cx="4572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C8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AInstein Does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6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Generation Pipeline — Producing Architecture Models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37160"/>
            <a:ext cx="1554480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85216" y="1188720"/>
            <a:ext cx="1463040" cy="1737360"/>
          </a:xfrm>
          <a:prstGeom prst="rect">
            <a:avLst/>
          </a:prstGeom>
          <a:solidFill>
            <a:srgbClr val="FAFAFA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856" y="137160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85216" y="1828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Ingest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76656" y="21488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ADRs, specs,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 docs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2048256" y="17373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56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2212848" y="1188720"/>
            <a:ext cx="1463040" cy="1737360"/>
          </a:xfrm>
          <a:prstGeom prst="rect">
            <a:avLst/>
          </a:prstGeom>
          <a:solidFill>
            <a:srgbClr val="FAFAFA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1488" y="137160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212848" y="1828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2304288" y="21488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ArchiMate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Exchange XML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3675888" y="17373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56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3840480" y="1188720"/>
            <a:ext cx="1463040" cy="1737360"/>
          </a:xfrm>
          <a:prstGeom prst="rect">
            <a:avLst/>
          </a:prstGeom>
          <a:solidFill>
            <a:srgbClr val="FAFAFA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0" y="137160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840480" y="1828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Validate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3931920" y="21488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ArchiMate 3.2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schema rules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5303520" y="17373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56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5468112" y="1188720"/>
            <a:ext cx="1463040" cy="1737360"/>
          </a:xfrm>
          <a:prstGeom prst="rect">
            <a:avLst/>
          </a:prstGeom>
          <a:solidFill>
            <a:srgbClr val="FAFAFA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6752" y="1371600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468112" y="1828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Repair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5559552" y="21488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View refs,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missing nodes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6931152" y="17373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56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1"/>
          <p:cNvSpPr/>
          <p:nvPr/>
        </p:nvSpPr>
        <p:spPr>
          <a:xfrm>
            <a:off x="7095744" y="1188720"/>
            <a:ext cx="1463040" cy="1737360"/>
          </a:xfrm>
          <a:prstGeom prst="rect">
            <a:avLst/>
          </a:prstGeom>
          <a:solidFill>
            <a:srgbClr val="FAFAFA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44384" y="1371600"/>
            <a:ext cx="365760" cy="36576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095744" y="1828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Refine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7187184" y="21488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User-guided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improvements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411480" y="3291840"/>
            <a:ext cx="8321040" cy="731520"/>
          </a:xfrm>
          <a:prstGeom prst="rect">
            <a:avLst/>
          </a:prstGeom>
          <a:solidFill>
            <a:srgbClr val="006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5"/>
          <p:cNvSpPr/>
          <p:nvPr/>
        </p:nvSpPr>
        <p:spPr>
          <a:xfrm>
            <a:off x="594360" y="329184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Purpose:  Produce ArchiMate Open Exchange XML models from architectural decisions — not consume them.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7"/>
          <p:cNvSpPr/>
          <p:nvPr/>
        </p:nvSpPr>
        <p:spPr>
          <a:xfrm>
            <a:off x="8412480" y="4709160"/>
            <a:ext cx="4572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C8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What’s Coming Next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6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 Pipeline — Giving AInstein Eyes on Existing Models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37160"/>
            <a:ext cx="1554480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1188720"/>
            <a:ext cx="3931920" cy="2286000"/>
          </a:xfrm>
          <a:prstGeom prst="rect">
            <a:avLst/>
          </a:prstGeom>
          <a:solidFill>
            <a:srgbClr val="00613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37160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Exposed Tools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77240" y="182880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SearchViews — find views by name or content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GetViewDetails — full element/relationship data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SearchElements — query elements across models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GetElementDetails — properties, relationships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800600" y="1188720"/>
            <a:ext cx="3931920" cy="2286000"/>
          </a:xfrm>
          <a:prstGeom prst="rect">
            <a:avLst/>
          </a:prstGeom>
          <a:solidFill>
            <a:srgbClr val="00613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37160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9496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Cases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166360" y="182880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Generate documentation from live models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Threat modeling from architecture views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 architectural context to other LLMs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 from GitHub, local repos, model repos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11480" y="3749040"/>
            <a:ext cx="8321040" cy="548640"/>
          </a:xfrm>
          <a:prstGeom prst="rect">
            <a:avLst/>
          </a:prstGeom>
          <a:solidFill>
            <a:srgbClr val="FFF3E0"/>
          </a:solidFill>
          <a:ln w="12700">
            <a:solidFill>
              <a:srgbClr val="E56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594360" y="3749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6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question:  Return model content as YAML, TOON, or Markdown for LLM consumption?  (Analysis on slides 12201314, results on slides 15201318)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8412480" y="4709160"/>
            <a:ext cx="4572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C8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Implementation Choice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6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Why Claude Skills over MCP Servers or Custom Agentic Frameworks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37160"/>
            <a:ext cx="1554480" cy="658368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151842"/>
              </p:ext>
            </p:extLst>
          </p:nvPr>
        </p:nvGraphicFramePr>
        <p:xfrm>
          <a:off x="411480" y="1097280"/>
          <a:ext cx="8321040" cy="257860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Dimension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Skills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MCP Server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Custom Agent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Token efficiency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Lazy loading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(only active skills)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All tool defs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upfront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Full prompt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per call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Context loading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Progressive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(~500 vs ~25K tokens)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Static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tool schemas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Manual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management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Execution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Claude sandbox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(local, secure)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Remote server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(network hops)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Self-hosted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(ops burden)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Portability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.skill zip file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works anywhere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Server deploy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per environment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Custom deploy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per setup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Data sovereignty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All local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(critical for DSO)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Data traverses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network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Depends on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implementation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Iteration speed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Edit SKILL.md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instant reload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Redeploy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server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Redeploy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agent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11480" y="3977640"/>
            <a:ext cx="8321040" cy="457200"/>
          </a:xfrm>
          <a:prstGeom prst="rect">
            <a:avLst/>
          </a:prstGeom>
          <a:solidFill>
            <a:srgbClr val="006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94360" y="39776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skills:  archimate-viewer (visualization), archimate-generator (XML from ADRs), repo-housekeeping (docs)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8412480" y="4709160"/>
            <a:ext cx="4572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C8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Capability Findings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6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Why Smaller and Local Models Cannot Generate ArchiMate XML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37160"/>
            <a:ext cx="1554480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1097280"/>
            <a:ext cx="3931920" cy="2377440"/>
          </a:xfrm>
          <a:prstGeom prst="rect">
            <a:avLst/>
          </a:prstGeom>
          <a:solidFill>
            <a:srgbClr val="006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Small Models (3B–20B)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164592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Cannot maintain valid XML across 50+ elements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Lose track of element IDs in relationship refs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Hallucinate xsi:type values not in ArchiMate 3.2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gpt-oss:20b (MoE, 3.6B active): plausible but structurally broken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smollm3 (3.1B): completely unable to produce valid XML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00600" y="1097280"/>
            <a:ext cx="3931920" cy="2377440"/>
          </a:xfrm>
          <a:prstGeom prst="rect">
            <a:avLst/>
          </a:prstGeom>
          <a:solidFill>
            <a:srgbClr val="006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98348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Local Ollama (M3 Pro, 36 GB)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074920" y="164592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gpt-oss:20b on Metal: 15–25 tok/s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131K default context eats 17 GB of 36 GB RAM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ArchiMate XML = 10K+ output tokens = 7–10 min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Chain-of-thought reasoning adds overhead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Acceptable for Q&amp;A but impractical for generation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11480" y="3749040"/>
            <a:ext cx="8321040" cy="548640"/>
          </a:xfrm>
          <a:prstGeom prst="rect">
            <a:avLst/>
          </a:prstGeom>
          <a:solidFill>
            <a:srgbClr val="FBE9E7"/>
          </a:solidFill>
          <a:ln w="12700">
            <a:solidFill>
              <a:srgbClr val="AF19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94360" y="3749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191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Conclusion:  Structured XML generation requires frontier models (Claude Sonnet 4+). Local models are viable for RAG, not generation.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412480" y="4709160"/>
            <a:ext cx="4572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C8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Validation &amp; Sanitization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6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Taming the Stochastic Output of LLM-Generated XML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37160"/>
            <a:ext cx="1554480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1097280"/>
            <a:ext cx="2606040" cy="2651760"/>
          </a:xfrm>
          <a:prstGeom prst="rect">
            <a:avLst/>
          </a:prstGeom>
          <a:solidFill>
            <a:srgbClr val="FAFAFA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11480" y="1097280"/>
            <a:ext cx="2606040" cy="411480"/>
          </a:xfrm>
          <a:prstGeom prst="rect">
            <a:avLst/>
          </a:prstGeom>
          <a:solidFill>
            <a:srgbClr val="AF19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11480" y="10972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XML Escaping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164592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F191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Problem: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1828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LLMs produce &amp; instead of &amp;amp;,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&lt; in names, unescaped quotes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251460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Mitigation: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8640" y="2697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Deterministic sanitizer catches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XML-illegal characters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46120" y="1097280"/>
            <a:ext cx="2606040" cy="2651760"/>
          </a:xfrm>
          <a:prstGeom prst="rect">
            <a:avLst/>
          </a:prstGeom>
          <a:solidFill>
            <a:srgbClr val="FAFAFA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246120" y="1097280"/>
            <a:ext cx="2606040" cy="411480"/>
          </a:xfrm>
          <a:prstGeom prst="rect">
            <a:avLst/>
          </a:prstGeom>
          <a:solidFill>
            <a:srgbClr val="E56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246120" y="10972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View Repair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383280" y="164592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F191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Problem: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383280" y="1828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Views reference elements that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don’t exist, missing nodes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383280" y="251460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Mitigation: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383280" y="2697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Post-generation repair pass: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scan views, add missing nodes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080760" y="1097280"/>
            <a:ext cx="2606040" cy="2651760"/>
          </a:xfrm>
          <a:prstGeom prst="rect">
            <a:avLst/>
          </a:prstGeom>
          <a:solidFill>
            <a:srgbClr val="FAFAFA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080760" y="1097280"/>
            <a:ext cx="2606040" cy="411480"/>
          </a:xfrm>
          <a:prstGeom prst="rect">
            <a:avLst/>
          </a:prstGeom>
          <a:solidFill>
            <a:srgbClr val="821E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080760" y="10972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Stochasticity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217920" y="164592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F191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Problem: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217920" y="1828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Same prompt → different structures.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Hallucinated types, swapped IDs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217920" y="251460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Mitigation: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217920" y="2697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Schema validation + retry loop.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Still not fully solved → YAML pivot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412480" y="4709160"/>
            <a:ext cx="4572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C8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Skill Philosophy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6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Gradual Improvement Without Rigid Logic or Regex Soup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37160"/>
            <a:ext cx="1554480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1051560"/>
            <a:ext cx="8321040" cy="640080"/>
          </a:xfrm>
          <a:prstGeom prst="rect">
            <a:avLst/>
          </a:prstGeom>
          <a:solidFill>
            <a:srgbClr val="FAFAFA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6128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10789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LLM routes per intent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97280" y="13533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regex or keyword routing. </a:t>
            </a:r>
            <a:r>
              <a:rPr lang="en-US" sz="1000" dirty="0" err="1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Ainstein</a:t>
            </a: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persona classifies intent using an LLM and orchestrates an execution paths. Adaptive as capabilities grow.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11480" y="1801368"/>
            <a:ext cx="8321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1911096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1828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Progressive skill loading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097280" y="2103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Skill descriptions = ~500 tokens. Only 2–3 relevant skills fully loaded per query, saving 93% on input tokens.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11480" y="2551176"/>
            <a:ext cx="8321040" cy="640080"/>
          </a:xfrm>
          <a:prstGeom prst="rect">
            <a:avLst/>
          </a:prstGeom>
          <a:solidFill>
            <a:srgbClr val="FAFAFA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2660904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97280" y="2578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Skills, not hardcoded pipelines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097280" y="2852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archimate-viewer, archimate-generator, repo-housekeeping — each a .skill zip with SKILL.md + reference code.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11480" y="3300984"/>
            <a:ext cx="8321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410712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97280" y="33284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Deterministic validation, not LLM repair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1097280" y="36027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XML schema validation, escaping, and view generation are code — not another LLM call. Eliminates 10K+ token repair.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8"/>
          <p:cNvSpPr/>
          <p:nvPr/>
        </p:nvSpPr>
        <p:spPr>
          <a:xfrm>
            <a:off x="8412480" y="4709160"/>
            <a:ext cx="4572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C8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Follow-Up Refinement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6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Iterating on Models Without Resending the Full XML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37160"/>
            <a:ext cx="1554480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1097280"/>
            <a:ext cx="3931920" cy="2377440"/>
          </a:xfrm>
          <a:prstGeom prst="rect">
            <a:avLst/>
          </a:prstGeom>
          <a:solidFill>
            <a:srgbClr val="FBE9E7"/>
          </a:solidFill>
          <a:ln w="12700">
            <a:solidFill>
              <a:srgbClr val="AF19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1148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F191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Before: Full Model Round-Trip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155448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User: "Add a Technology layer"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LLM receives full XML (10K+ tokens input)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LLM regenerates entire model (10K+ output)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View repair needed (10K+ tokens)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Validation retry (14K tokens if failed)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Total: up to 34,500 tokens per change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114800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E56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4800600" y="1097280"/>
            <a:ext cx="3931920" cy="2377440"/>
          </a:xfrm>
          <a:prstGeom prst="rect">
            <a:avLst/>
          </a:prstGeom>
          <a:solidFill>
            <a:srgbClr val="E8F5E9"/>
          </a:solidFill>
          <a:ln w="12700">
            <a:solidFill>
              <a:srgbClr val="0061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80060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After: Instruction-Based Edits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74920" y="155448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User: "Add a Technology layer"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LLM generates only the change instruction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Deterministic code applies the delta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full-model regeneration needed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View updates computed, not guessed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Target: ~3,500 tokens per change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11480" y="3749040"/>
            <a:ext cx="8321040" cy="548640"/>
          </a:xfrm>
          <a:prstGeom prst="rect">
            <a:avLst/>
          </a:prstGeom>
          <a:solidFill>
            <a:srgbClr val="006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94360" y="3749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Architects iterate naturally — "now add a firewall between zones" — without XML overhead.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412480" y="4709160"/>
            <a:ext cx="4572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C8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YAML Pivot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6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Stop Having LLMs Generate XML — Let Them Think Instead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37160"/>
            <a:ext cx="1554480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1051560"/>
            <a:ext cx="8321040" cy="822960"/>
          </a:xfrm>
          <a:prstGeom prst="rect">
            <a:avLst/>
          </a:prstGeom>
          <a:solidFill>
            <a:srgbClr val="FFF3E0"/>
          </a:solidFill>
          <a:ln w="12700">
            <a:solidFill>
              <a:srgbClr val="E56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" y="105156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insight: </a:t>
            </a:r>
            <a:r>
              <a:rPr lang="en-US" sz="11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LLM spends most completion tokens on XML boilerplate — namespace declarations, xsi:type=, xml:lang="en", identifier attributes, &lt;views&gt; coordinates. That’s structural repetition, not architectural reasoning.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1480" y="2057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LLM outputs only decisions (YAML):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11480" y="2331720"/>
            <a:ext cx="3931920" cy="146304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48640" y="23774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B4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id: m1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B4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type: Driver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"Secure access"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B4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relationships: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B4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type: Realization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source: a1 | target: a5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00600" y="2057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Deterministic code handles the rest: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83480" y="237744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Expand short IDs to full ArchiMate identifiers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Map type strings to xsi:type attributes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Wrap in XML namespaces, tags, escaping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Generate view with grid layout per layer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Compute all view connections automatically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412480" y="4709160"/>
            <a:ext cx="4572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C8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Format Analysis: TOON vs YAML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6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 the Newest Format the Best Fit for ArchiMate Generation?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37160"/>
            <a:ext cx="1554480" cy="658368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8321040" cy="19202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Factor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YAML ✅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TOON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Raw XML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Token savings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vs JSON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~35–40%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~40–60%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(tabular data)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Baseline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(most verbose)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Savings on our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structure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~35–40%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~35–45%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(marginal gain)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0%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LLM output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reliability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Excellent — trained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on millions of files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Risky — too new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for training data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Good but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verbose/fragile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Parsing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ecosystem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Mature libraries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 every language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Young — TS/Python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SDKs only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Mature but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complex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11480" y="3246120"/>
            <a:ext cx="8321040" cy="731520"/>
          </a:xfrm>
          <a:prstGeom prst="rect">
            <a:avLst/>
          </a:prstGeom>
          <a:solidFill>
            <a:srgbClr val="FFF3E0"/>
          </a:solidFill>
          <a:ln w="12700">
            <a:solidFill>
              <a:srgbClr val="E56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94360" y="324612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Verdict: </a:t>
            </a:r>
            <a:r>
              <a:rPr lang="en-US" sz="11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TOON is promising for input (feeding data to LLMs) but too immature for output. As of March 2026, LLMs have not been trained on TOON. YAML gives 90% of the benefit with near-zero risk.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8412480" y="4709160"/>
            <a:ext cx="4572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C8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Implementation Complexity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6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It Takes to Build Each Pipeline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37160"/>
            <a:ext cx="1554480" cy="658368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29260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Dimension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XML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(current)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JSON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YAML ✅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TOON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Converter to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Exchange XML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N/A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(direct output)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Medium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JSON→XML mapping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Medium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YAML→XML mapping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Medium-High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TOON→JSON→XML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Converter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dev effort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 days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3–4 days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3–4 days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5–7 days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View generation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dev effort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 (repair: 10K tok)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1–2 days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1–2 days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1–2 days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Validation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dev effort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Already built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(2–3 days)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 days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1–2 days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3–4 days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Total new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dev effort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(status quo)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5–6 days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4–6 days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9–13 days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LLM generation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success rate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~85%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(view always broken)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~92%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~95%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~60–70%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(not in training data)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Prompt engineering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effort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Low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Low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Low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High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(full spec + examples)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11480" y="4069080"/>
            <a:ext cx="8321040" cy="457200"/>
          </a:xfrm>
          <a:prstGeom prst="rect">
            <a:avLst/>
          </a:prstGeom>
          <a:solidFill>
            <a:srgbClr val="006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94360" y="40690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YAML: 4–6 days to implement with ~95% LLM success rate.  TOON: 9–13 days with ~65% success rate. Double the effort, half the reliability.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8412480" y="4709160"/>
            <a:ext cx="4572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C8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Cost per Model Generation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6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Token Costs at Claude Sonnet 4.5 Pricing ($3 Input / $15 Output per MTok)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37160"/>
            <a:ext cx="1554480" cy="658368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2935224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Cost Driver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XML (current)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JSON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YAML ✅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TOON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LLM completion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tokens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~10,000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~7,000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~3,500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~3,000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View repair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LLM call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~10,500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(100% trigger)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~10,500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(same problem)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(deterministic)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(deterministic)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Validation retry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LLM call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~14,000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(when triggered)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~8,000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(when triggered)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(valid by construction)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(valid by construction)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Worst case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total tokens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~34,500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~25,500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613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~3,500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~3,000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Cost per model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($15/MTok output)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$0.52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$0.38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613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$0.053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$0.045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Annual cost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(20 models/day)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$3,780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$2,774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613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$383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$328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Generation time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90–230s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+ repair 30–60s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60–120s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+ &lt;1s convert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30–50s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+ &lt;1s convert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25–45s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0606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+ &lt;1s convert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11480" y="4069080"/>
            <a:ext cx="8321040" cy="457200"/>
          </a:xfrm>
          <a:prstGeom prst="rect">
            <a:avLst/>
          </a:prstGeom>
          <a:solidFill>
            <a:srgbClr val="FFF3E0"/>
          </a:solidFill>
          <a:ln w="12700">
            <a:solidFill>
              <a:srgbClr val="E56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94360" y="40690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6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TOON saves $0.008/model over YAML ($55/year).  TOON costs 5–7 extra dev-days.  The ROI on TOON is negative for generation — use it for input only.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8412480" y="4709160"/>
            <a:ext cx="4572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C8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We Built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6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YAML Pipeline: From Spec to Production in One Session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37160"/>
            <a:ext cx="1554480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28600" y="960120"/>
            <a:ext cx="2057400" cy="1371600"/>
          </a:xfrm>
          <a:prstGeom prst="rect">
            <a:avLst/>
          </a:prstGeom>
          <a:solidFill>
            <a:srgbClr val="006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28600" y="10058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yaml_to_xml.py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20040" y="14173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248 lines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Single public function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internal stages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68880" y="960120"/>
            <a:ext cx="2057400" cy="1371600"/>
          </a:xfrm>
          <a:prstGeom prst="rect">
            <a:avLst/>
          </a:prstGeom>
          <a:solidFill>
            <a:srgbClr val="E56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468880" y="10058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560320" y="14173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172 lines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YAML schema + rules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XML instructions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09160" y="960120"/>
            <a:ext cx="2057400" cy="1371600"/>
          </a:xfrm>
          <a:prstGeom prst="rect">
            <a:avLst/>
          </a:prstGeom>
          <a:solidFill>
            <a:srgbClr val="821E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709160" y="10058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generation.py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800600" y="14173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edit points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YAML detect → convert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Retry + fallback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949440" y="960120"/>
            <a:ext cx="2057400" cy="1371600"/>
          </a:xfrm>
          <a:prstGeom prst="rect">
            <a:avLst/>
          </a:prstGeom>
          <a:solidFill>
            <a:srgbClr val="7DB4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949440" y="10058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test_yaml_to_xml.py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040880" y="14173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21 tests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passing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Roundtrip validated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20040" y="251460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✅ Single file</a:t>
            </a:r>
            <a:r>
              <a:rPr lang="en-US" sz="95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Follows CLAUDE.md thin-layers rule. Constants reused from archimate.py.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20040" y="2990088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✅ Deterministic rel IDs</a:t>
            </a:r>
            <a:r>
              <a:rPr lang="en-US" sz="95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id-rel-{source}-{target} — collision-free, merge-safe for refinement.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20040" y="3465576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✅ One targeted retry</a:t>
            </a:r>
            <a:r>
              <a:rPr lang="en-US" sz="95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~500 tokens on validation error. Not an infinite loop.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754880" y="251460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✅ Graceful fallback</a:t>
            </a:r>
            <a:r>
              <a:rPr lang="en-US" sz="95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No YAML detected? Falls through to legacy XML path. Zero downtime risk.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754880" y="2990088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✅ YAML companion</a:t>
            </a:r>
            <a:r>
              <a:rPr lang="en-US" sz="95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Stored alongside XML artifact. Refinement operates on YAML, never on XML.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754880" y="3465576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✅ Pipeline telemetry</a:t>
            </a:r>
            <a:r>
              <a:rPr lang="en-US" sz="95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pipeline_info dict in COMPLETE log: path taken, tokens, retry status, convert time.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412480" y="4709160"/>
            <a:ext cx="4572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61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37160"/>
            <a:ext cx="155448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Expected vs Achieved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B4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Spec Predictions vs First Production Run (ADR-29 Model)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272491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Metric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8C8C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Spec Predicted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56C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Actually Achieved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Verdict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C8C8C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Completion tokens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C8C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~3,500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56C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4,856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DB4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✅ +39% but richer model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C8C8C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Total tokens (worst case)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C8C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~3,500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56C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8,900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DB4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✅ 65% reduction from 25,737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C8C8C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View repair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C8C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 tokens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56C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 tokens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DB4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✅ Eliminated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C8C8C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Validation retry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C8C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 tokens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56C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 tokens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DB4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✅ Eliminated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C8C8C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Generation time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C8C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30–50s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56C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47s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DB4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✅ On target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C8C8C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Conversion time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C8C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&lt;1s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56C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31ms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DB4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✅ Negligible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C8C8C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YAML success rate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C8C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~95% first try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56C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100% first try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DB4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✅ Better than expected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C8C8C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Elements generated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C8C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53 (baseline)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56C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56C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⬆ +21% richer model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C8C8C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Relationships generated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C8C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61 (baseline)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56C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56C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⬆ +48% richer model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11480" y="3931920"/>
            <a:ext cx="8321040" cy="548640"/>
          </a:xfrm>
          <a:prstGeom prst="rect">
            <a:avLst/>
          </a:prstGeom>
          <a:solidFill>
            <a:srgbClr val="004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594360" y="39319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6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insight:  </a:t>
            </a:r>
            <a:r>
              <a:rPr lang="en-US" sz="1100" dirty="0">
                <a:solidFill>
                  <a:srgbClr val="C8C8C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LLM spent freed tokens on architectural reasoning — 74 elements vs 53, 92 relationships vs 61. Better models at lower cost.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4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412480" y="4709160"/>
            <a:ext cx="4572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C8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Proof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6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Actual COMPLETE Log Line from First Production Run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37160"/>
            <a:ext cx="1554480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1005840"/>
            <a:ext cx="8412480" cy="91440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10515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B4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pipeline=yaml, yaml_valid=True, yaml_retry=False, convert_ms=31,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B4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prompt=4044tok, completion=4856tok, elements=74, relationships=92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103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1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pipeline=yaml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560320" y="21031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YAML path taken, not XML fallback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2468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1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yaml_valid=True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560320" y="24688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Validated first attempt. No retry needed.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7200" y="2834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1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yaml_retry=False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560320" y="28346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Zero post-generation LLM calls. Valid by construction.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1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convert_ms=31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560320" y="32004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Deterministic conversion in 31 milliseconds.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" y="3566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1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completion=4856tok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560320" y="35661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vs 34,500 worst case with XML pipeline. 86% reduction.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65760" y="4114800"/>
            <a:ext cx="8412480" cy="411480"/>
          </a:xfrm>
          <a:prstGeom prst="rect">
            <a:avLst/>
          </a:prstGeom>
          <a:solidFill>
            <a:srgbClr val="E8F5E9"/>
          </a:solidFill>
          <a:ln w="12700">
            <a:solidFill>
              <a:srgbClr val="0061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YAML companion saved (16,950 chars). Ready for refinement path.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412480" y="4709160"/>
            <a:ext cx="4572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C8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Before &amp; After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6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XML Pipeline vs YAML Pipeline — Same ADR, Same Model, Real Numbers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37160"/>
            <a:ext cx="1554480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960120"/>
            <a:ext cx="4114800" cy="3246120"/>
          </a:xfrm>
          <a:prstGeom prst="rect">
            <a:avLst/>
          </a:prstGeom>
          <a:solidFill>
            <a:srgbClr val="FFF0F0"/>
          </a:solidFill>
          <a:ln w="12700">
            <a:solidFill>
              <a:srgbClr val="AF19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74320" y="960120"/>
            <a:ext cx="4114800" cy="365760"/>
          </a:xfrm>
          <a:prstGeom prst="rect">
            <a:avLst/>
          </a:prstGeom>
          <a:solidFill>
            <a:srgbClr val="AF191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BEFORE: XML Pipeline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1389888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Completion tokens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468880" y="1389888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F191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10,628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173736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View repair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468880" y="1737360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F191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10,514 tokens (43s)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2084832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Validation retry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468880" y="2084832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F191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14,168 tokens (89s)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2432304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tokens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468880" y="2432304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F191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25,737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2779776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time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468880" y="2779776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F191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227 seconds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3127248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Elements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468880" y="3127248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F191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61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" y="347472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Relationships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468880" y="3474720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F191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62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754880" y="960120"/>
            <a:ext cx="4114800" cy="3246120"/>
          </a:xfrm>
          <a:prstGeom prst="rect">
            <a:avLst/>
          </a:prstGeom>
          <a:solidFill>
            <a:srgbClr val="E8F5E9"/>
          </a:solidFill>
          <a:ln w="12700">
            <a:solidFill>
              <a:srgbClr val="0061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754880" y="960120"/>
            <a:ext cx="4114800" cy="365760"/>
          </a:xfrm>
          <a:prstGeom prst="rect">
            <a:avLst/>
          </a:prstGeom>
          <a:solidFill>
            <a:srgbClr val="00613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AFTER: YAML Pipeline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937760" y="1389888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Completion tokens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949440" y="1389888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4,856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937760" y="173736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View repair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949440" y="1737360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 (deterministic)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937760" y="2084832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Validation retry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949440" y="2084832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 (valid by construction)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937760" y="2432304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tokens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949440" y="2432304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8,900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937760" y="2779776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time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949440" y="2779776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47 seconds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937760" y="3127248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Elements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949440" y="3127248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74  (↑ +21%)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4937760" y="347472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Relationships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949440" y="3474720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6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92  (↑ +48%)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320040" y="4343400"/>
            <a:ext cx="2011680" cy="365760"/>
          </a:xfrm>
          <a:prstGeom prst="rect">
            <a:avLst/>
          </a:prstGeom>
          <a:solidFill>
            <a:srgbClr val="006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320040" y="4343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-65%  Total Tokens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2560320" y="4343400"/>
            <a:ext cx="2011680" cy="365760"/>
          </a:xfrm>
          <a:prstGeom prst="rect">
            <a:avLst/>
          </a:prstGeom>
          <a:solidFill>
            <a:srgbClr val="006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2560320" y="4343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-79%  Generation Time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800600" y="4343400"/>
            <a:ext cx="2011680" cy="365760"/>
          </a:xfrm>
          <a:prstGeom prst="rect">
            <a:avLst/>
          </a:prstGeom>
          <a:solidFill>
            <a:srgbClr val="E56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4800600" y="4343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+21%  Model Richness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7040880" y="4343400"/>
            <a:ext cx="2011680" cy="365760"/>
          </a:xfrm>
          <a:prstGeom prst="rect">
            <a:avLst/>
          </a:prstGeom>
          <a:solidFill>
            <a:srgbClr val="7DB4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7040880" y="4343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  Post-Gen LLM Calls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8412480" y="4709160"/>
            <a:ext cx="4572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6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61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37160"/>
            <a:ext cx="155448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What’s Next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11480" y="822960"/>
            <a:ext cx="2651760" cy="2926080"/>
          </a:xfrm>
          <a:prstGeom prst="rect">
            <a:avLst/>
          </a:prstGeom>
          <a:solidFill>
            <a:srgbClr val="004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822960"/>
            <a:ext cx="2651760" cy="54864"/>
          </a:xfrm>
          <a:prstGeom prst="rect">
            <a:avLst/>
          </a:prstGeom>
          <a:solidFill>
            <a:srgbClr val="7DB4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85800" y="1005840"/>
            <a:ext cx="2103120" cy="320040"/>
          </a:xfrm>
          <a:prstGeom prst="rect">
            <a:avLst/>
          </a:prstGeom>
          <a:solidFill>
            <a:srgbClr val="7DB4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5800" y="1005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SHIPPED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1620" y="15087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YAML Converter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24231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DONE. 248 lines, 21 tests, all passing. Deterministic XML + grid views. YAML companion stored for refinement.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291840" y="822960"/>
            <a:ext cx="2651760" cy="2926080"/>
          </a:xfrm>
          <a:prstGeom prst="rect">
            <a:avLst/>
          </a:prstGeom>
          <a:solidFill>
            <a:srgbClr val="004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291840" y="822960"/>
            <a:ext cx="2651760" cy="54864"/>
          </a:xfrm>
          <a:prstGeom prst="rect">
            <a:avLst/>
          </a:prstGeom>
          <a:solidFill>
            <a:srgbClr val="E56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566160" y="1005840"/>
            <a:ext cx="2103120" cy="320040"/>
          </a:xfrm>
          <a:prstGeom prst="rect">
            <a:avLst/>
          </a:prstGeom>
          <a:solidFill>
            <a:srgbClr val="E56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3566160" y="1005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 PROGRESS</a:t>
            </a:r>
            <a:endParaRPr lang="en-US" sz="10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1980" y="150876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2900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Refinement via YAML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429000" y="24231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NEXT. Load YAML companion (~2,500 tokens) → LLM modifies → converter produces XML. ~80% reduction vs XML refinement.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172200" y="822960"/>
            <a:ext cx="2651760" cy="2926080"/>
          </a:xfrm>
          <a:prstGeom prst="rect">
            <a:avLst/>
          </a:prstGeom>
          <a:solidFill>
            <a:srgbClr val="004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172200" y="822960"/>
            <a:ext cx="2651760" cy="54864"/>
          </a:xfrm>
          <a:prstGeom prst="rect">
            <a:avLst/>
          </a:prstGeom>
          <a:solidFill>
            <a:srgbClr val="C8C8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446520" y="1005840"/>
            <a:ext cx="2103120" cy="320040"/>
          </a:xfrm>
          <a:prstGeom prst="rect">
            <a:avLst/>
          </a:prstGeom>
          <a:solidFill>
            <a:srgbClr val="C8C8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6446520" y="1005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PLANNED</a:t>
            </a:r>
            <a:endParaRPr lang="en-US" sz="10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2340" y="150876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30936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 Pipeline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309360" y="24231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PLANNED. Parse existing ArchiMate files. Expose SearchViews, GetElementDetails. Return YAML for LLM consumption.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11480" y="3931920"/>
            <a:ext cx="8321040" cy="548640"/>
          </a:xfrm>
          <a:prstGeom prst="rect">
            <a:avLst/>
          </a:prstGeom>
          <a:solidFill>
            <a:srgbClr val="004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594360" y="39319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6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Validated principle:  </a:t>
            </a:r>
            <a:r>
              <a:rPr lang="en-US" sz="1100" dirty="0">
                <a:solidFill>
                  <a:srgbClr val="C8C8C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LLMs do the thinking. Deterministic code does the formatting. 65% fewer tokens. 79% faster. 21% richer models.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4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8412480" y="4709160"/>
            <a:ext cx="4572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2218</Words>
  <Application>Microsoft Macintosh PowerPoint</Application>
  <PresentationFormat>On-screen Show (16:9)</PresentationFormat>
  <Paragraphs>512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Consolas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AInstein ArchiMate Generation Pipeline</dc:title>
  <dc:subject>PptxGenJS Presentation</dc:subject>
  <dc:creator>Cagri Tekinay - Energy System Architecture, Alliander N.V.</dc:creator>
  <cp:lastModifiedBy>Cagri Tekinay</cp:lastModifiedBy>
  <cp:revision>5</cp:revision>
  <dcterms:created xsi:type="dcterms:W3CDTF">2026-03-01T18:14:18Z</dcterms:created>
  <dcterms:modified xsi:type="dcterms:W3CDTF">2026-03-01T19:45:52Z</dcterms:modified>
</cp:coreProperties>
</file>